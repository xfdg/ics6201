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998B"/>
                </a:solidFill>
                <a:latin typeface="Microsoft YaHei"/>
              </a:defRPr>
            </a:pPr>
            <a:r>
              <a:t>ICS6201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UAV Visual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0E0E0"/>
                </a:solidFill>
                <a:latin typeface="Microsoft YaHei"/>
              </a:defRPr>
            </a:pPr>
            <a:r>
              <a:t>Environment Setup &amp; Training Progress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7432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Microsoft YaHei"/>
              </a:defRPr>
            </a:pPr>
            <a:r>
              <a:t>Date: 2026-06-09  |  Server: 8x NVIDIA H200 (141GB)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98B"/>
                </a:solidFill>
                <a:latin typeface="Microsoft YaHei"/>
              </a:defRPr>
            </a:pPr>
            <a: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Task: Single-class (drone) object detection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Compare 6 detection models across 3 UAV datasets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Each model x 3 random seeds = 18 training runs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Find the best solution for UAV illegal flight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998B"/>
                </a:solidFill>
                <a:latin typeface="Microsoft YaHei"/>
              </a:defRPr>
            </a:pPr>
            <a:r>
              <a:t>171,568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Total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998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998B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7947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Training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800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998B"/>
                </a:solidFill>
                <a:latin typeface="Microsoft YaHei"/>
              </a:defRPr>
            </a:pPr>
            <a:r>
              <a:t>8x H200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GPU Cluster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Val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DUT Anti-UAV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VOC XML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5,200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DroneDetection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VOC XML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46,301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5,145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2,625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54,071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ARD-MAV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Video+XML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85,997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10,749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10,751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107,497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137,498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18,494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15,576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171,568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998B"/>
                </a:solidFill>
                <a:latin typeface="Microsoft YaHei"/>
              </a:defRPr>
            </a:pPr>
            <a: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VOC XML -&gt; YOLO format via prepare_rgb_yolo.py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ARD-MAV video fast frame extraction (107K frames in ~15 min, vs 18 days naive)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YOLO -&gt; COCO format for Detectron2 via prepare_rgb_coco.py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Models Under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YOLOv8n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Ultralytics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 family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YOLOv10n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Ultralytics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 family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YOLO11m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Ultralytics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 family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RT-DETR-L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Ultralytics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Faster R-CNN R50-FPN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Detectron2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Two-stage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DDW-YOLO (ECA+BiFPN)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Ultralytics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Custom YOLO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Microsoft YaHei"/>
              </a:defRPr>
            </a:pPr>
            <a:r>
              <a:t>Each model trained with 3 random seeds (1, 2, 3) for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Environment Setup &amp;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98B"/>
                </a:solidFill>
                <a:latin typeface="Microsoft YaHei"/>
              </a:defRPr>
            </a:pPr>
            <a:r>
              <a:t>Conda Environment: fly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Python 3.12 + PyTorch 2.5.1+cu121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Ultralytics 8.4.56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Detectron2 0.6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opencv-python-headless (no libGL on GPU node)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Installed on shared GPFS: /volume/yzhao04/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843F"/>
                </a:solidFill>
                <a:latin typeface="Microsoft YaHei"/>
              </a:defRPr>
            </a:pPr>
            <a:r>
              <a:t>Key Pitfalls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libGL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opencv-python-headless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pip constraint 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697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PIP_CONSTRAINT=""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detectron2 build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--no-build-isolation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Faster RCNN NaN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batch 4-&gt;32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DDW-YOLO optimizer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AdamW (no Muon)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5D"/>
                </a:solidFill>
                <a:latin typeface="Microsoft YaHei"/>
              </a:defRPr>
            </a:pPr>
            <a:r>
              <a:t>SSH denied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8B"/>
                </a:solidFill>
                <a:latin typeface="Microsoft YaHei"/>
              </a:defRPr>
            </a:pPr>
            <a:r>
              <a:t> -&gt; ed25519 key via GPFS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GPU Cluster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VRAM/GB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Total/GB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BW/TB/s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FP8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Shanghai (ours)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H200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1128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38.4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Beijing H100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H100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13.4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A100 cluster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A100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RTX 4090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4090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B"/>
                </a:solidFill>
                <a:latin typeface="Microsoft YaHei"/>
              </a:defRPr>
            </a:pPr>
            <a:r>
              <a:t>Our platform: Shanghai 8x H200 = best fit for ICS6201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1128GB total VRAM — largest capacity, best for large batch &amp; long context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38.4 TB/s aggregate HBM bandwidth — ideal for memory-bound workloads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Hopper FP8 Transformer Engine — supports next-gen quantized inference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CPU node handles downloads, builds, docs; GPU node handles training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Automation &amp; Script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98B"/>
                </a:solidFill>
                <a:latin typeface="Microsoft YaHei"/>
              </a:defRPr>
            </a:pPr>
            <a:r>
              <a:t>master.sh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1463040" cy="640080"/>
          </a:xfrm>
          <a:prstGeom prst="rect">
            <a:avLst/>
          </a:prstGeom>
          <a:solidFill>
            <a:srgbClr val="4DA8D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Env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103120"/>
            <a:ext cx="1463040" cy="640080"/>
          </a:xfrm>
          <a:prstGeom prst="rect">
            <a:avLst/>
          </a:prstGeom>
          <a:solidFill>
            <a:srgbClr val="4EC98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Data Prep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1463040" cy="640080"/>
          </a:xfrm>
          <a:prstGeom prst="rect">
            <a:avLst/>
          </a:prstGeom>
          <a:solidFill>
            <a:srgbClr val="F0C74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Smoke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103120"/>
            <a:ext cx="1463040" cy="640080"/>
          </a:xfrm>
          <a:prstGeom prst="rect">
            <a:avLst/>
          </a:prstGeom>
          <a:solidFill>
            <a:srgbClr val="F4843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Train (7 GPU)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03120"/>
            <a:ext cx="1463040" cy="640080"/>
          </a:xfrm>
          <a:prstGeom prst="rect">
            <a:avLst/>
          </a:prstGeom>
          <a:solidFill>
            <a:srgbClr val="1B998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5.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2103120"/>
            <a:ext cx="1463040" cy="640080"/>
          </a:xfrm>
          <a:prstGeom prst="rect">
            <a:avLst/>
          </a:prstGeom>
          <a:solidFill>
            <a:srgbClr val="E85D5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6. Keep Alive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38404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auto_config.py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Auto-detect GPU count, model, VRAM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parallel_launcher.py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Multi-GPU parallel training scheduler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validate_pipeline.py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Subset smoke test (env/data/train)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summarize_results.py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Generate comparison report from logs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prepare_ard_mav_fast.py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 batch frame extraction for ARD-MAV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recovery_manifest.py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Identify complete/partial/pending tasks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8B"/>
                </a:solidFill>
                <a:latin typeface="Microsoft YaHei"/>
              </a:defRPr>
            </a:pPr>
            <a:r>
              <a:t>Validation: 14/14 PASSED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Check Item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8 GPU detection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GPU selection (1-7)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Environment imports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Data preparation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YOLOv8n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39s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YOLOv10n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38s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YOLO11m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40s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DDW-YOLO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44s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RT-DETR-L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56s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Faster R-CNN training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4m05s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Multi-GPU parallel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Keep Alive daemon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End-to-end timing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5m07s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Training Results (2026-06-09)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8B"/>
                </a:solidFill>
                <a:latin typeface="Microsoft YaHei"/>
              </a:defRPr>
            </a:pPr>
            <a:r>
              <a:t>Core Tasks (All DONE)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1031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RT-DETR-L seed1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0.6794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RT-DETR-L seed2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0.6753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RT-DETR-L seed3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0.6758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Faster RCNN seed1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Faster RCNN seed2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Faster RCNN seed3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741"/>
                </a:solidFill>
                <a:latin typeface="Microsoft YaHei"/>
              </a:defRPr>
            </a:pPr>
            <a:r>
              <a:t>Secondary Tasks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1031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998B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YOLO11m seed1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YOLO11m seed2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PARTIAL (OOM)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YOLO11m seed3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DDW-YOLO seed1-3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YOLOv10 seed1-3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YOLOv8 seed1-3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52030"/>
                    </a:solidFill>
                    <a:lnL w="6350">
                      <a:solidFill>
                        <a:srgbClr val="2A3A4A"/>
                      </a:solidFill>
                    </a:lnL>
                    <a:lnR w="6350">
                      <a:solidFill>
                        <a:srgbClr val="2A3A4A"/>
                      </a:solidFill>
                    </a:lnR>
                    <a:lnT w="6350">
                      <a:solidFill>
                        <a:srgbClr val="2A3A4A"/>
                      </a:solidFill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Microsoft YaHei"/>
              </a:defRPr>
            </a:pPr>
            <a:r>
              <a:t>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Environment fully operational on 8x H200</a:t>
            </a:r>
          </a:p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171K images across 3 datasets prepared</a:t>
            </a:r>
          </a:p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All 6 models validated (14/14 checks pass)</a:t>
            </a:r>
          </a:p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Core tasks done: RT-DETR-L mAP50-95 ~0.677</a:t>
            </a:r>
          </a:p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Core tasks done: Faster R-CNN x3 seeds</a:t>
            </a:r>
          </a:p>
          <a:p>
            <a:pPr>
              <a:spcAft>
                <a:spcPts val="600"/>
              </a:spcAft>
              <a:defRPr sz="1500">
                <a:solidFill>
                  <a:srgbClr val="4EC98B"/>
                </a:solidFill>
                <a:latin typeface="Microsoft YaHei"/>
              </a:defRPr>
            </a:pPr>
            <a:r>
              <a:t>Automation pipeline: master.sh one-click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843F"/>
                </a:solidFill>
                <a:latin typeface="Microsoft YaHei"/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4843F"/>
                </a:solidFill>
                <a:latin typeface="Microsoft YaHei"/>
              </a:defRPr>
            </a:pPr>
            <a:r>
              <a:t>Recover YOLO11m seed2 from last.pt</a:t>
            </a:r>
          </a:p>
          <a:p>
            <a:pPr>
              <a:spcAft>
                <a:spcPts val="600"/>
              </a:spcAft>
              <a:defRPr sz="1500">
                <a:solidFill>
                  <a:srgbClr val="F4843F"/>
                </a:solidFill>
                <a:latin typeface="Microsoft YaHei"/>
              </a:defRPr>
            </a:pPr>
            <a:r>
              <a:t>Run remaining secondary tasks (YOLOv8, YOLOv10, DDW-YOLO)</a:t>
            </a:r>
          </a:p>
          <a:p>
            <a:pPr>
              <a:spcAft>
                <a:spcPts val="600"/>
              </a:spcAft>
              <a:defRPr sz="1500">
                <a:solidFill>
                  <a:srgbClr val="F4843F"/>
                </a:solidFill>
                <a:latin typeface="Microsoft YaHei"/>
              </a:defRPr>
            </a:pPr>
            <a:r>
              <a:t>Generate full comparison report (18 runs)</a:t>
            </a:r>
          </a:p>
          <a:p>
            <a:pPr>
              <a:spcAft>
                <a:spcPts val="600"/>
              </a:spcAft>
              <a:defRPr sz="1500">
                <a:solidFill>
                  <a:srgbClr val="F4843F"/>
                </a:solidFill>
                <a:latin typeface="Microsoft YaHei"/>
              </a:defRPr>
            </a:pPr>
            <a:r>
              <a:t>Analyze mAP50-95 across all models &amp; seeds</a:t>
            </a:r>
          </a:p>
          <a:p>
            <a:pPr>
              <a:spcAft>
                <a:spcPts val="600"/>
              </a:spcAft>
              <a:defRPr sz="1500">
                <a:solidFill>
                  <a:srgbClr val="F4843F"/>
                </a:solidFill>
                <a:latin typeface="Microsoft YaHei"/>
              </a:defRPr>
            </a:pPr>
            <a:r>
              <a:t>Write final experiment analysis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